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uthors.xml" ContentType="application/vnd.ms-powerpoint.author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7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7" r:id="rId11"/>
    <p:sldId id="269" r:id="rId12"/>
    <p:sldId id="270" r:id="rId13"/>
    <p:sldId id="271" r:id="rId14"/>
    <p:sldId id="266" r:id="rId15"/>
    <p:sldId id="264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F29F2044-23C0-4713-875E-49D60DDE384E}">
          <p14:sldIdLst>
            <p14:sldId id="256"/>
            <p14:sldId id="257"/>
            <p14:sldId id="258"/>
            <p14:sldId id="259"/>
            <p14:sldId id="260"/>
            <p14:sldId id="261"/>
            <p14:sldId id="262"/>
            <p14:sldId id="263"/>
            <p14:sldId id="267"/>
            <p14:sldId id="269"/>
            <p14:sldId id="270"/>
            <p14:sldId id="271"/>
            <p14:sldId id="266"/>
            <p14:sldId id="264"/>
          </p14:sldIdLst>
        </p14:section>
      </p14:section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80BA29EE-6AE8-32B7-519D-6BD9F0F78A1F}" name="Kummari Pavan" initials="KP" userId="16e90993bc3248b3" providerId="Windows Liv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>
        <p:scale>
          <a:sx n="75" d="100"/>
          <a:sy n="75" d="100"/>
        </p:scale>
        <p:origin x="902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1" Type="http://schemas.microsoft.com/office/2018/10/relationships/authors" Target="authors.xml"/><Relationship Id="rId20" Type="http://schemas.openxmlformats.org/officeDocument/2006/relationships/tableStyles" Target="tableStyles.xml"/><Relationship Id="rId2" Type="http://schemas.openxmlformats.org/officeDocument/2006/relationships/theme" Target="theme/theme1.xml"/><Relationship Id="rId19" Type="http://schemas.openxmlformats.org/officeDocument/2006/relationships/viewProps" Target="viewProps.xml"/><Relationship Id="rId18" Type="http://schemas.openxmlformats.org/officeDocument/2006/relationships/presProps" Target="presProps.xml"/><Relationship Id="rId17" Type="http://schemas.openxmlformats.org/officeDocument/2006/relationships/notesMaster" Target="notesMasters/notesMaster1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B0E5243-92A2-40CC-B0C7-50BC72069F82}" type="datetimeFigureOut">
              <a:rPr lang="en-IN" smtClean="0"/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63B950E-15C1-47BA-8FBD-1CD2FB3DE4A6}" type="slidenum">
              <a:rPr lang="en-IN" smtClean="0"/>
            </a:fld>
            <a:endParaRPr lang="en-I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3B950E-15C1-47BA-8FBD-1CD2FB3DE4A6}" type="slidenum">
              <a:rPr lang="en-IN" smtClean="0"/>
            </a:fld>
            <a:endParaRPr lang="en-IN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8"/>
          <p:cNvGrpSpPr/>
          <p:nvPr/>
        </p:nvGrpSpPr>
        <p:grpSpPr>
          <a:xfrm>
            <a:off x="546100" y="-4763"/>
            <a:ext cx="5014912" cy="6862763"/>
            <a:chOff x="2928938" y="-4763"/>
            <a:chExt cx="5014912" cy="6862763"/>
          </a:xfrm>
        </p:grpSpPr>
        <p:sp>
          <p:nvSpPr>
            <p:cNvPr id="22" name="Freeform 6"/>
            <p:cNvSpPr/>
            <p:nvPr/>
          </p:nvSpPr>
          <p:spPr bwMode="auto">
            <a:xfrm>
              <a:off x="3367088" y="-4763"/>
              <a:ext cx="1063625" cy="2782888"/>
            </a:xfrm>
            <a:custGeom>
              <a:avLst/>
              <a:gdLst/>
              <a:ahLst/>
              <a:cxnLst/>
              <a:rect l="0" t="0" r="r" b="b"/>
              <a:pathLst>
                <a:path w="670" h="1753">
                  <a:moveTo>
                    <a:pt x="0" y="1696"/>
                  </a:moveTo>
                  <a:lnTo>
                    <a:pt x="225" y="1753"/>
                  </a:lnTo>
                  <a:lnTo>
                    <a:pt x="670" y="0"/>
                  </a:lnTo>
                  <a:lnTo>
                    <a:pt x="430" y="0"/>
                  </a:lnTo>
                  <a:lnTo>
                    <a:pt x="0" y="169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23" name="Freeform 7"/>
            <p:cNvSpPr/>
            <p:nvPr/>
          </p:nvSpPr>
          <p:spPr bwMode="auto">
            <a:xfrm>
              <a:off x="2928938" y="-4763"/>
              <a:ext cx="1035050" cy="2673350"/>
            </a:xfrm>
            <a:custGeom>
              <a:avLst/>
              <a:gdLst/>
              <a:ahLst/>
              <a:cxnLst/>
              <a:rect l="0" t="0" r="r" b="b"/>
              <a:pathLst>
                <a:path w="652" h="1684">
                  <a:moveTo>
                    <a:pt x="225" y="1684"/>
                  </a:moveTo>
                  <a:lnTo>
                    <a:pt x="652" y="0"/>
                  </a:lnTo>
                  <a:lnTo>
                    <a:pt x="411" y="0"/>
                  </a:lnTo>
                  <a:lnTo>
                    <a:pt x="0" y="1627"/>
                  </a:lnTo>
                  <a:lnTo>
                    <a:pt x="219" y="1681"/>
                  </a:lnTo>
                  <a:lnTo>
                    <a:pt x="225" y="1684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24" name="Freeform 9"/>
            <p:cNvSpPr/>
            <p:nvPr/>
          </p:nvSpPr>
          <p:spPr bwMode="auto">
            <a:xfrm>
              <a:off x="2928938" y="2582862"/>
              <a:ext cx="2693987" cy="4275138"/>
            </a:xfrm>
            <a:custGeom>
              <a:avLst/>
              <a:gdLst/>
              <a:ahLst/>
              <a:cxnLst/>
              <a:rect l="0" t="0" r="r" b="b"/>
              <a:pathLst>
                <a:path w="1697" h="2693">
                  <a:moveTo>
                    <a:pt x="0" y="0"/>
                  </a:moveTo>
                  <a:lnTo>
                    <a:pt x="1622" y="2693"/>
                  </a:lnTo>
                  <a:lnTo>
                    <a:pt x="1697" y="26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25" name="Freeform 10"/>
            <p:cNvSpPr/>
            <p:nvPr/>
          </p:nvSpPr>
          <p:spPr bwMode="auto">
            <a:xfrm>
              <a:off x="3371850" y="2692400"/>
              <a:ext cx="3332162" cy="4165600"/>
            </a:xfrm>
            <a:custGeom>
              <a:avLst/>
              <a:gdLst/>
              <a:ahLst/>
              <a:cxnLst/>
              <a:rect l="0" t="0" r="r" b="b"/>
              <a:pathLst>
                <a:path w="2099" h="2624">
                  <a:moveTo>
                    <a:pt x="2099" y="2624"/>
                  </a:moveTo>
                  <a:lnTo>
                    <a:pt x="0" y="0"/>
                  </a:lnTo>
                  <a:lnTo>
                    <a:pt x="2021" y="2624"/>
                  </a:lnTo>
                  <a:lnTo>
                    <a:pt x="2099" y="2624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26" name="Freeform 11"/>
            <p:cNvSpPr/>
            <p:nvPr/>
          </p:nvSpPr>
          <p:spPr bwMode="auto">
            <a:xfrm>
              <a:off x="3367088" y="2687637"/>
              <a:ext cx="4576762" cy="4170363"/>
            </a:xfrm>
            <a:custGeom>
              <a:avLst/>
              <a:gdLst/>
              <a:ahLst/>
              <a:cxnLst/>
              <a:rect l="0" t="0" r="r" b="b"/>
              <a:pathLst>
                <a:path w="2883" h="2627">
                  <a:moveTo>
                    <a:pt x="0" y="0"/>
                  </a:moveTo>
                  <a:lnTo>
                    <a:pt x="3" y="3"/>
                  </a:lnTo>
                  <a:lnTo>
                    <a:pt x="2102" y="2627"/>
                  </a:lnTo>
                  <a:lnTo>
                    <a:pt x="2883" y="2627"/>
                  </a:lnTo>
                  <a:lnTo>
                    <a:pt x="225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27" name="Freeform 12"/>
            <p:cNvSpPr/>
            <p:nvPr/>
          </p:nvSpPr>
          <p:spPr bwMode="auto">
            <a:xfrm>
              <a:off x="2928938" y="2578100"/>
              <a:ext cx="3584575" cy="4279900"/>
            </a:xfrm>
            <a:custGeom>
              <a:avLst/>
              <a:gdLst/>
              <a:ahLst/>
              <a:cxnLst/>
              <a:rect l="0" t="0" r="r" b="b"/>
              <a:pathLst>
                <a:path w="2258" h="2696">
                  <a:moveTo>
                    <a:pt x="2258" y="2696"/>
                  </a:moveTo>
                  <a:lnTo>
                    <a:pt x="264" y="111"/>
                  </a:lnTo>
                  <a:lnTo>
                    <a:pt x="228" y="60"/>
                  </a:lnTo>
                  <a:lnTo>
                    <a:pt x="225" y="57"/>
                  </a:lnTo>
                  <a:lnTo>
                    <a:pt x="0" y="0"/>
                  </a:lnTo>
                  <a:lnTo>
                    <a:pt x="0" y="3"/>
                  </a:lnTo>
                  <a:lnTo>
                    <a:pt x="1697" y="2696"/>
                  </a:lnTo>
                  <a:lnTo>
                    <a:pt x="2258" y="2696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928401" y="1380068"/>
            <a:ext cx="8574622" cy="2616199"/>
          </a:xfrm>
        </p:spPr>
        <p:txBody>
          <a:bodyPr anchor="b">
            <a:normAutofit/>
          </a:bodyPr>
          <a:lstStyle>
            <a:lvl1pPr algn="r">
              <a:defRPr sz="60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15377" y="3996267"/>
            <a:ext cx="6987645" cy="1388534"/>
          </a:xfrm>
        </p:spPr>
        <p:txBody>
          <a:bodyPr anchor="t">
            <a:normAutofit/>
          </a:bodyPr>
          <a:lstStyle>
            <a:lvl1pPr marL="0" indent="0" algn="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72912A-94D2-4787-ACFD-4BD944A298EC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332412" y="5883275"/>
            <a:ext cx="4324044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2E496E-FC4D-434F-A05C-EFAEC7E6B93E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72912A-94D2-4787-ACFD-4BD944A298EC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951856" y="5867131"/>
            <a:ext cx="551167" cy="365125"/>
          </a:xfrm>
        </p:spPr>
        <p:txBody>
          <a:bodyPr/>
          <a:lstStyle/>
          <a:p>
            <a:fld id="{192E496E-FC4D-434F-A05C-EFAEC7E6B93E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2279" y="2666999"/>
            <a:ext cx="8930747" cy="2110382"/>
          </a:xfrm>
        </p:spPr>
        <p:txBody>
          <a:bodyPr anchor="b"/>
          <a:lstStyle>
            <a:lvl1pPr algn="r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72278" y="4777381"/>
            <a:ext cx="8930748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72912A-94D2-4787-ACFD-4BD944A298EC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2E496E-FC4D-434F-A05C-EFAEC7E6B93E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175259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84312" y="2666999"/>
            <a:ext cx="4895055" cy="3124201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607967" y="2667000"/>
            <a:ext cx="4895056" cy="31242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72912A-94D2-4787-ACFD-4BD944A298EC}" type="datetimeFigureOut">
              <a:rPr lang="en-IN" smtClean="0"/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2E496E-FC4D-434F-A05C-EFAEC7E6B93E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72179" y="2658533"/>
            <a:ext cx="4607188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84311" y="3335337"/>
            <a:ext cx="4895056" cy="2455862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880487" y="2667000"/>
            <a:ext cx="4622537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607967" y="3335337"/>
            <a:ext cx="4895056" cy="2455862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72912A-94D2-4787-ACFD-4BD944A298EC}" type="datetimeFigureOut">
              <a:rPr lang="en-IN" smtClean="0"/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2E496E-FC4D-434F-A05C-EFAEC7E6B93E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72912A-94D2-4787-ACFD-4BD944A298EC}" type="datetimeFigureOut">
              <a:rPr lang="en-IN" smtClean="0"/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2E496E-FC4D-434F-A05C-EFAEC7E6B93E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72912A-94D2-4787-ACFD-4BD944A298EC}" type="datetimeFigureOut">
              <a:rPr lang="en-IN" smtClean="0"/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2E496E-FC4D-434F-A05C-EFAEC7E6B93E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2" y="1600200"/>
            <a:ext cx="3549121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262033" y="685799"/>
            <a:ext cx="6240990" cy="5105401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4312" y="2971800"/>
            <a:ext cx="3549121" cy="1828800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72912A-94D2-4787-ACFD-4BD944A298EC}" type="datetimeFigureOut">
              <a:rPr lang="en-IN" smtClean="0"/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2E496E-FC4D-434F-A05C-EFAEC7E6B93E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2724" y="1752599"/>
            <a:ext cx="5426158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594682" y="914400"/>
            <a:ext cx="3280974" cy="4572000"/>
          </a:xfrm>
          <a:prstGeom prst="roundRect">
            <a:avLst>
              <a:gd name="adj" fmla="val 42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2724" y="3124199"/>
            <a:ext cx="5426158" cy="1828800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72912A-94D2-4787-ACFD-4BD944A298EC}" type="datetimeFigureOut">
              <a:rPr lang="en-IN" smtClean="0"/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2E496E-FC4D-434F-A05C-EFAEC7E6B93E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4732865"/>
            <a:ext cx="10018711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386012" y="932112"/>
            <a:ext cx="8225944" cy="3164976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4311" y="5299603"/>
            <a:ext cx="10018711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72912A-94D2-4787-ACFD-4BD944A298EC}" type="datetimeFigureOut">
              <a:rPr lang="en-IN" smtClean="0"/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2E496E-FC4D-434F-A05C-EFAEC7E6B93E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2" y="685800"/>
            <a:ext cx="10018711" cy="3048000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343400"/>
            <a:ext cx="10018713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72912A-94D2-4787-ACFD-4BD944A298EC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2E496E-FC4D-434F-A05C-EFAEC7E6B93E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  <a:endParaRPr lang="en-US" sz="8000" dirty="0">
              <a:solidFill>
                <a:schemeClr val="tx1"/>
              </a:solidFill>
              <a:effectLst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  <a:endParaRPr lang="en-US" sz="8000" dirty="0">
              <a:solidFill>
                <a:schemeClr val="tx1"/>
              </a:solidFill>
              <a:effectLst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8212" y="685800"/>
            <a:ext cx="8990012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436811" y="3428999"/>
            <a:ext cx="8532815" cy="381000"/>
          </a:xfrm>
        </p:spPr>
        <p:txBody>
          <a:bodyPr anchor="ctr">
            <a:normAutofit/>
          </a:bodyPr>
          <a:lstStyle>
            <a:lvl1pPr marL="0" indent="0">
              <a:buFontTx/>
              <a:buNone/>
              <a:defRPr sz="18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1" y="4343400"/>
            <a:ext cx="10018711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72912A-94D2-4787-ACFD-4BD944A298EC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2E496E-FC4D-434F-A05C-EFAEC7E6B93E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3" y="3308581"/>
            <a:ext cx="10018709" cy="1468800"/>
          </a:xfrm>
        </p:spPr>
        <p:txBody>
          <a:bodyPr anchor="b">
            <a:normAutofit/>
          </a:bodyPr>
          <a:lstStyle>
            <a:lvl1pPr algn="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777381"/>
            <a:ext cx="10018710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72912A-94D2-4787-ACFD-4BD944A298EC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2E496E-FC4D-434F-A05C-EFAEC7E6B93E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  <a:endParaRPr lang="en-US" sz="8000" dirty="0">
              <a:solidFill>
                <a:schemeClr val="tx1"/>
              </a:solidFill>
              <a:effectLst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  <a:endParaRPr lang="en-US" sz="8000" dirty="0">
              <a:solidFill>
                <a:schemeClr val="tx1"/>
              </a:solidFill>
              <a:effectLst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8212" y="685800"/>
            <a:ext cx="8990012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84313" y="3886200"/>
            <a:ext cx="10018710" cy="889000"/>
          </a:xfrm>
        </p:spPr>
        <p:txBody>
          <a:bodyPr vert="horz" lIns="91440" tIns="45720" rIns="91440" bIns="45720" rtlCol="0" anchor="b">
            <a:normAutofit/>
          </a:bodyPr>
          <a:lstStyle>
            <a:lvl1pPr algn="r"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775200"/>
            <a:ext cx="10018710" cy="1016000"/>
          </a:xfrm>
        </p:spPr>
        <p:txBody>
          <a:bodyPr anchor="t">
            <a:norm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72912A-94D2-4787-ACFD-4BD944A298EC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2E496E-FC4D-434F-A05C-EFAEC7E6B93E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3" y="685800"/>
            <a:ext cx="10018712" cy="2727325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84312" y="3505200"/>
            <a:ext cx="10018713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1" y="4343400"/>
            <a:ext cx="10018713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72912A-94D2-4787-ACFD-4BD944A298EC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2E496E-FC4D-434F-A05C-EFAEC7E6B93E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72912A-94D2-4787-ACFD-4BD944A298EC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2E496E-FC4D-434F-A05C-EFAEC7E6B93E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732655" y="685800"/>
            <a:ext cx="1770369" cy="5105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84312" y="685800"/>
            <a:ext cx="8019742" cy="51054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72912A-94D2-4787-ACFD-4BD944A298EC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2E496E-FC4D-434F-A05C-EFAEC7E6B93E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150812" y="0"/>
            <a:ext cx="2436813" cy="6858001"/>
            <a:chOff x="1320800" y="0"/>
            <a:chExt cx="2436813" cy="6858001"/>
          </a:xfrm>
        </p:grpSpPr>
        <p:sp>
          <p:nvSpPr>
            <p:cNvPr id="8" name="Freeform 6"/>
            <p:cNvSpPr/>
            <p:nvPr/>
          </p:nvSpPr>
          <p:spPr bwMode="auto">
            <a:xfrm>
              <a:off x="1627188" y="0"/>
              <a:ext cx="1122363" cy="5329238"/>
            </a:xfrm>
            <a:custGeom>
              <a:avLst/>
              <a:gdLst/>
              <a:ahLst/>
              <a:cxnLst/>
              <a:rect l="0" t="0" r="r" b="b"/>
              <a:pathLst>
                <a:path w="707" h="3357">
                  <a:moveTo>
                    <a:pt x="0" y="3330"/>
                  </a:moveTo>
                  <a:lnTo>
                    <a:pt x="156" y="3357"/>
                  </a:lnTo>
                  <a:lnTo>
                    <a:pt x="707" y="0"/>
                  </a:lnTo>
                  <a:lnTo>
                    <a:pt x="547" y="0"/>
                  </a:lnTo>
                  <a:lnTo>
                    <a:pt x="0" y="333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9" name="Freeform 7"/>
            <p:cNvSpPr/>
            <p:nvPr/>
          </p:nvSpPr>
          <p:spPr bwMode="auto">
            <a:xfrm>
              <a:off x="1320800" y="0"/>
              <a:ext cx="1117600" cy="5276850"/>
            </a:xfrm>
            <a:custGeom>
              <a:avLst/>
              <a:gdLst/>
              <a:ahLst/>
              <a:cxnLst/>
              <a:rect l="0" t="0" r="r" b="b"/>
              <a:pathLst>
                <a:path w="704" h="3324">
                  <a:moveTo>
                    <a:pt x="704" y="0"/>
                  </a:moveTo>
                  <a:lnTo>
                    <a:pt x="545" y="0"/>
                  </a:lnTo>
                  <a:lnTo>
                    <a:pt x="0" y="3300"/>
                  </a:lnTo>
                  <a:lnTo>
                    <a:pt x="157" y="3324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10" name="Freeform 8"/>
            <p:cNvSpPr/>
            <p:nvPr/>
          </p:nvSpPr>
          <p:spPr bwMode="auto">
            <a:xfrm>
              <a:off x="1320800" y="5238750"/>
              <a:ext cx="1228725" cy="1619250"/>
            </a:xfrm>
            <a:custGeom>
              <a:avLst/>
              <a:gdLst/>
              <a:ahLst/>
              <a:cxnLst/>
              <a:rect l="0" t="0" r="r" b="b"/>
              <a:pathLst>
                <a:path w="774" h="1020">
                  <a:moveTo>
                    <a:pt x="0" y="0"/>
                  </a:moveTo>
                  <a:lnTo>
                    <a:pt x="740" y="1020"/>
                  </a:lnTo>
                  <a:lnTo>
                    <a:pt x="774" y="1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11" name="Freeform 9"/>
            <p:cNvSpPr/>
            <p:nvPr/>
          </p:nvSpPr>
          <p:spPr bwMode="auto">
            <a:xfrm>
              <a:off x="1627188" y="5291138"/>
              <a:ext cx="1495425" cy="1566863"/>
            </a:xfrm>
            <a:custGeom>
              <a:avLst/>
              <a:gdLst/>
              <a:ahLst/>
              <a:cxnLst/>
              <a:rect l="0" t="0" r="r" b="b"/>
              <a:pathLst>
                <a:path w="942" h="987">
                  <a:moveTo>
                    <a:pt x="0" y="0"/>
                  </a:moveTo>
                  <a:lnTo>
                    <a:pt x="909" y="987"/>
                  </a:lnTo>
                  <a:lnTo>
                    <a:pt x="942" y="9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12" name="Freeform 10"/>
            <p:cNvSpPr/>
            <p:nvPr/>
          </p:nvSpPr>
          <p:spPr bwMode="auto">
            <a:xfrm>
              <a:off x="1627188" y="5286375"/>
              <a:ext cx="2130425" cy="1571625"/>
            </a:xfrm>
            <a:custGeom>
              <a:avLst/>
              <a:gdLst/>
              <a:ahLst/>
              <a:cxnLst/>
              <a:rect l="0" t="0" r="r" b="b"/>
              <a:pathLst>
                <a:path w="1342" h="990">
                  <a:moveTo>
                    <a:pt x="0" y="3"/>
                  </a:moveTo>
                  <a:lnTo>
                    <a:pt x="942" y="990"/>
                  </a:lnTo>
                  <a:lnTo>
                    <a:pt x="1342" y="990"/>
                  </a:lnTo>
                  <a:lnTo>
                    <a:pt x="156" y="27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13" name="Freeform 11"/>
            <p:cNvSpPr/>
            <p:nvPr/>
          </p:nvSpPr>
          <p:spPr bwMode="auto">
            <a:xfrm>
              <a:off x="1320800" y="5238750"/>
              <a:ext cx="1695450" cy="1619250"/>
            </a:xfrm>
            <a:custGeom>
              <a:avLst/>
              <a:gdLst/>
              <a:ahLst/>
              <a:cxnLst/>
              <a:rect l="0" t="0" r="r" b="b"/>
              <a:pathLst>
                <a:path w="1068" h="1020">
                  <a:moveTo>
                    <a:pt x="1068" y="1020"/>
                  </a:moveTo>
                  <a:lnTo>
                    <a:pt x="184" y="60"/>
                  </a:lnTo>
                  <a:lnTo>
                    <a:pt x="154" y="27"/>
                  </a:lnTo>
                  <a:lnTo>
                    <a:pt x="157" y="27"/>
                  </a:lnTo>
                  <a:lnTo>
                    <a:pt x="157" y="24"/>
                  </a:lnTo>
                  <a:lnTo>
                    <a:pt x="154" y="24"/>
                  </a:lnTo>
                  <a:lnTo>
                    <a:pt x="0" y="0"/>
                  </a:lnTo>
                  <a:lnTo>
                    <a:pt x="0" y="0"/>
                  </a:lnTo>
                  <a:lnTo>
                    <a:pt x="774" y="1020"/>
                  </a:lnTo>
                  <a:lnTo>
                    <a:pt x="1068" y="1020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1752599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0" y="2666999"/>
            <a:ext cx="10018713" cy="31242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E572912A-94D2-4787-ACFD-4BD944A298EC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192E496E-FC4D-434F-A05C-EFAEC7E6B93E}" type="slidenum">
              <a:rPr lang="en-IN" smtClean="0"/>
            </a:fld>
            <a:endParaRPr lang="en-I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 cap="none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 panose="020B0604020202020204"/>
        <a:buChar char="•"/>
        <a:defRPr sz="2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 panose="020B0604020202020204"/>
        <a:buChar char="•"/>
        <a:defRPr sz="20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 panose="020B0604020202020204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 panose="020B0604020202020204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 panose="020B0604020202020204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 panose="020B0604020202020204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 panose="020B0604020202020204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 panose="020B0604020202020204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 panose="020B0604020202020204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9.xml"/><Relationship Id="rId1" Type="http://schemas.openxmlformats.org/officeDocument/2006/relationships/image" Target="../media/image2.jpe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9.xml"/><Relationship Id="rId1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5.jpe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8.xml"/><Relationship Id="rId1" Type="http://schemas.openxmlformats.org/officeDocument/2006/relationships/image" Target="../media/image7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9.xml"/><Relationship Id="rId1" Type="http://schemas.openxmlformats.org/officeDocument/2006/relationships/image" Target="../media/image8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9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0.xml"/><Relationship Id="rId1" Type="http://schemas.openxmlformats.org/officeDocument/2006/relationships/image" Target="../media/image10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Detection of Dental Diseases Using Convolutional Neural Networks (CNN)</a:t>
            </a:r>
            <a:endParaRPr lang="en-IN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A Deep Learning Approach for Dental Radiograph Analysis</a:t>
            </a:r>
            <a:endParaRPr lang="en-US" dirty="0"/>
          </a:p>
          <a:p>
            <a:endParaRPr lang="en-US" dirty="0"/>
          </a:p>
          <a:p>
            <a:r>
              <a:rPr lang="en-US" dirty="0"/>
              <a:t>DEEPIKA KASTURI</a:t>
            </a:r>
            <a:br>
              <a:rPr lang="en-US" dirty="0"/>
            </a:br>
            <a:r>
              <a:rPr lang="en-US" dirty="0">
                <a:latin typeface="Bahnschrift Light" panose="020B0502040204020203" pitchFamily="34" charset="0"/>
              </a:rPr>
              <a:t>23098127</a:t>
            </a:r>
            <a:endParaRPr lang="en-IN" dirty="0">
              <a:latin typeface="Bahnschrift Light" panose="020B0502040204020203" pitchFamily="3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1482724" y="568961"/>
            <a:ext cx="5426158" cy="843280"/>
          </a:xfrm>
        </p:spPr>
        <p:txBody>
          <a:bodyPr/>
          <a:lstStyle/>
          <a:p>
            <a:r>
              <a:rPr lang="en-IN" sz="3200" b="1" dirty="0"/>
              <a:t>Introduction</a:t>
            </a:r>
            <a:endParaRPr lang="en-IN" b="1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half" idx="2"/>
          </p:nvPr>
        </p:nvSpPr>
        <p:spPr>
          <a:xfrm>
            <a:off x="754606" y="0"/>
            <a:ext cx="6711066" cy="7025833"/>
          </a:xfrm>
        </p:spPr>
        <p:txBody>
          <a:bodyPr>
            <a:norm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/>
              <a:t>Dental diseases are common and require early diagnosis.</a:t>
            </a:r>
            <a:endParaRPr lang="en-US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IN" dirty="0"/>
              <a:t>Traditional diagnosis depends on dentist expertise and visual inspection.</a:t>
            </a:r>
            <a:endParaRPr lang="en-IN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/>
              <a:t>Deep Learning, especially CNN, can automatically detect dental issues using X-ray images.</a:t>
            </a:r>
            <a:endParaRPr lang="en-US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/>
              <a:t>This project aims to build a CNN model that identifies dental diseases from radiographic images.</a:t>
            </a:r>
            <a:endParaRPr lang="en-IN" dirty="0"/>
          </a:p>
        </p:txBody>
      </p:sp>
      <p:pic>
        <p:nvPicPr>
          <p:cNvPr id="1030" name="Picture 6"/>
          <p:cNvPicPr>
            <a:picLocks noGrp="1" noChangeAspect="1" noChangeArrowheads="1"/>
          </p:cNvPicPr>
          <p:nvPr>
            <p:ph type="pic" idx="1"/>
          </p:nvPr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538" r="23538"/>
          <a:stretch>
            <a:fillRect/>
          </a:stretch>
        </p:blipFill>
        <p:spPr bwMode="auto">
          <a:xfrm>
            <a:off x="7594600" y="0"/>
            <a:ext cx="45974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69353" y="160312"/>
            <a:ext cx="8459890" cy="784568"/>
          </a:xfrm>
        </p:spPr>
        <p:txBody>
          <a:bodyPr>
            <a:normAutofit/>
          </a:bodyPr>
          <a:lstStyle/>
          <a:p>
            <a:r>
              <a:rPr lang="en-IN" sz="3200" b="1" dirty="0"/>
              <a:t>Problem Statement</a:t>
            </a:r>
            <a:endParaRPr lang="en-IN" sz="3200" b="1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504710" y="1036320"/>
            <a:ext cx="10323414" cy="3200014"/>
          </a:xfrm>
        </p:spPr>
        <p:txBody>
          <a:bodyPr>
            <a:norm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/>
              <a:t>Manual dental diagnosis is time-consuming, subjective, and error-prone.</a:t>
            </a:r>
            <a:endParaRPr lang="en-US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/>
              <a:t>Large number of patients → difficult for dentists to inspect each image accurately.</a:t>
            </a:r>
            <a:endParaRPr lang="en-US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/>
              <a:t>Need for an </a:t>
            </a:r>
            <a:r>
              <a:rPr lang="en-US" b="1" dirty="0"/>
              <a:t>automated</a:t>
            </a:r>
            <a:r>
              <a:rPr lang="en-US" dirty="0"/>
              <a:t>, </a:t>
            </a:r>
            <a:r>
              <a:rPr lang="en-US" b="1" dirty="0"/>
              <a:t>fast</a:t>
            </a:r>
            <a:r>
              <a:rPr lang="en-US" dirty="0"/>
              <a:t>, and </a:t>
            </a:r>
            <a:r>
              <a:rPr lang="en-US" b="1" dirty="0"/>
              <a:t>reliable</a:t>
            </a:r>
            <a:r>
              <a:rPr lang="en-US" dirty="0"/>
              <a:t> system to support dentists.</a:t>
            </a:r>
            <a:endParaRPr lang="en-US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/>
              <a:t>Goal: Build a CNN-based model for </a:t>
            </a:r>
            <a:r>
              <a:rPr lang="en-US" b="1" dirty="0"/>
              <a:t>accurate detection</a:t>
            </a:r>
            <a:r>
              <a:rPr lang="en-US" dirty="0"/>
              <a:t> of dental diseases.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1"/>
          <a:srcRect l="4174" t="17196" r="8694" b="16176"/>
          <a:stretch>
            <a:fillRect/>
          </a:stretch>
        </p:blipFill>
        <p:spPr>
          <a:xfrm>
            <a:off x="3148314" y="3865945"/>
            <a:ext cx="6678592" cy="240753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442258" y="0"/>
            <a:ext cx="974974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1752599"/>
          </a:xfrm>
        </p:spPr>
        <p:txBody>
          <a:bodyPr/>
          <a:lstStyle/>
          <a:p>
            <a:r>
              <a:rPr lang="en-IN" dirty="0"/>
              <a:t>Dataset Description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84310" y="2666999"/>
            <a:ext cx="10018713" cy="3124201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The dataset contains dental X-ray images collected from different patients.</a:t>
            </a:r>
            <a:endParaRPr lang="en-US" dirty="0"/>
          </a:p>
          <a:p>
            <a:r>
              <a:rPr lang="en-US" dirty="0"/>
              <a:t>It includes images of healthy teeth and various dental diseases such as cavities, gum disease, and root problems.</a:t>
            </a:r>
            <a:endParaRPr lang="en-US" dirty="0"/>
          </a:p>
          <a:p>
            <a:r>
              <a:rPr lang="en-US" dirty="0"/>
              <a:t>Images come in different sizes and qualities, so preprocessing is needed.</a:t>
            </a:r>
            <a:endParaRPr lang="en-US" dirty="0"/>
          </a:p>
          <a:p>
            <a:r>
              <a:rPr lang="en-US" dirty="0"/>
              <a:t>The dataset is divided into training, validation, and testing sets to train the CNN properly.</a:t>
            </a:r>
            <a:endParaRPr lang="en-US" dirty="0"/>
          </a:p>
          <a:p>
            <a:r>
              <a:rPr lang="en-US" dirty="0"/>
              <a:t>Data augmentation is used to create more image variations and improve model accuracy.</a:t>
            </a:r>
            <a:endParaRPr lang="en-US" dirty="0"/>
          </a:p>
          <a:p>
            <a:endParaRPr lang="en-IN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1484311" y="1"/>
            <a:ext cx="10018713" cy="1229360"/>
          </a:xfrm>
        </p:spPr>
        <p:txBody>
          <a:bodyPr/>
          <a:lstStyle/>
          <a:p>
            <a:r>
              <a:rPr lang="en-IN" b="1" dirty="0"/>
              <a:t>Data Preprocessing</a:t>
            </a:r>
            <a:endParaRPr lang="en-IN" b="1" dirty="0"/>
          </a:p>
        </p:txBody>
      </p:sp>
      <p:sp>
        <p:nvSpPr>
          <p:cNvPr id="5" name="Content Placeholder 4"/>
          <p:cNvSpPr>
            <a:spLocks noGrp="1"/>
          </p:cNvSpPr>
          <p:nvPr>
            <p:ph sz="half" idx="1"/>
          </p:nvPr>
        </p:nvSpPr>
        <p:spPr>
          <a:xfrm>
            <a:off x="1484312" y="314960"/>
            <a:ext cx="4895055" cy="5476241"/>
          </a:xfrm>
        </p:spPr>
        <p:txBody>
          <a:bodyPr>
            <a:normAutofit fontScale="92500" lnSpcReduction="20000"/>
          </a:bodyPr>
          <a:lstStyle/>
          <a:p>
            <a:pPr marL="0" indent="0" algn="ctr">
              <a:buNone/>
            </a:pPr>
            <a:endParaRPr lang="en-US" b="1" dirty="0"/>
          </a:p>
          <a:p>
            <a:pPr marL="0" indent="0" algn="ctr">
              <a:buNone/>
            </a:pPr>
            <a:endParaRPr lang="en-US" b="1" dirty="0"/>
          </a:p>
          <a:p>
            <a:pPr marL="0" indent="0" algn="ctr">
              <a:buNone/>
            </a:pPr>
            <a:r>
              <a:rPr lang="en-US" b="1" dirty="0"/>
              <a:t>🔹 Resize Images</a:t>
            </a:r>
            <a:endParaRPr lang="en-US" b="1" dirty="0"/>
          </a:p>
          <a:p>
            <a:r>
              <a:rPr lang="en-US" dirty="0"/>
              <a:t>All images are converted to the same size (e.g., 224×224).</a:t>
            </a:r>
            <a:endParaRPr lang="en-US" dirty="0"/>
          </a:p>
          <a:p>
            <a:r>
              <a:rPr lang="en-US" dirty="0"/>
              <a:t>Helps CNN read images properly.</a:t>
            </a:r>
            <a:endParaRPr lang="en-US" dirty="0"/>
          </a:p>
          <a:p>
            <a:endParaRPr lang="en-US" dirty="0"/>
          </a:p>
          <a:p>
            <a:pPr marL="0" indent="0" algn="ctr">
              <a:buNone/>
            </a:pPr>
            <a:endParaRPr lang="en-US" b="1" dirty="0"/>
          </a:p>
          <a:p>
            <a:pPr marL="0" indent="0" algn="ctr">
              <a:buNone/>
            </a:pPr>
            <a:endParaRPr lang="en-US" b="1" dirty="0"/>
          </a:p>
          <a:p>
            <a:pPr marL="0" indent="0" algn="ctr">
              <a:buNone/>
            </a:pPr>
            <a:r>
              <a:rPr lang="en-US" b="1" dirty="0"/>
              <a:t>🔹 Normalize Pixels</a:t>
            </a:r>
            <a:endParaRPr lang="en-US" b="1" dirty="0"/>
          </a:p>
          <a:p>
            <a:r>
              <a:rPr lang="en-US" dirty="0"/>
              <a:t>Convert pixel values from </a:t>
            </a:r>
            <a:r>
              <a:rPr lang="en-US" b="1" dirty="0"/>
              <a:t>0–255 → 0–1</a:t>
            </a:r>
            <a:r>
              <a:rPr lang="en-US" dirty="0"/>
              <a:t>.</a:t>
            </a:r>
            <a:endParaRPr lang="en-US" dirty="0"/>
          </a:p>
          <a:p>
            <a:r>
              <a:rPr lang="en-US" dirty="0"/>
              <a:t>Makes training faster and smoother.</a:t>
            </a:r>
            <a:endParaRPr lang="en-US" dirty="0"/>
          </a:p>
          <a:p>
            <a:endParaRPr lang="en-IN" dirty="0"/>
          </a:p>
        </p:txBody>
      </p:sp>
      <p:sp>
        <p:nvSpPr>
          <p:cNvPr id="6" name="Content Placeholder 5"/>
          <p:cNvSpPr>
            <a:spLocks noGrp="1"/>
          </p:cNvSpPr>
          <p:nvPr>
            <p:ph sz="half" idx="2"/>
          </p:nvPr>
        </p:nvSpPr>
        <p:spPr>
          <a:xfrm>
            <a:off x="6607967" y="1696720"/>
            <a:ext cx="4895056" cy="4094480"/>
          </a:xfrm>
        </p:spPr>
        <p:txBody>
          <a:bodyPr>
            <a:normAutofit fontScale="92500" lnSpcReduction="20000"/>
          </a:bodyPr>
          <a:lstStyle/>
          <a:p>
            <a:pPr marL="0" indent="0" algn="ctr">
              <a:buNone/>
            </a:pPr>
            <a:r>
              <a:rPr lang="en-US" b="1" dirty="0"/>
              <a:t>🔹        Data Augmentation</a:t>
            </a:r>
            <a:endParaRPr lang="en-US" b="1" dirty="0"/>
          </a:p>
          <a:p>
            <a:r>
              <a:rPr lang="en-US" dirty="0"/>
              <a:t>Create extra image variations:</a:t>
            </a:r>
            <a:endParaRPr lang="en-US" dirty="0"/>
          </a:p>
          <a:p>
            <a:pPr marL="800100" lvl="1" indent="-342900">
              <a:buFont typeface="+mj-lt"/>
              <a:buAutoNum type="arabicPeriod"/>
            </a:pPr>
            <a:r>
              <a:rPr lang="en-US" dirty="0"/>
              <a:t>Rotation</a:t>
            </a:r>
            <a:endParaRPr lang="en-US" dirty="0"/>
          </a:p>
          <a:p>
            <a:pPr marL="800100" lvl="1" indent="-342900">
              <a:buFont typeface="+mj-lt"/>
              <a:buAutoNum type="arabicPeriod"/>
            </a:pPr>
            <a:r>
              <a:rPr lang="en-US" dirty="0"/>
              <a:t>Flipping</a:t>
            </a:r>
            <a:endParaRPr lang="en-US" dirty="0"/>
          </a:p>
          <a:p>
            <a:pPr marL="800100" lvl="1" indent="-342900">
              <a:buFont typeface="+mj-lt"/>
              <a:buAutoNum type="arabicPeriod"/>
            </a:pPr>
            <a:r>
              <a:rPr lang="en-US" dirty="0"/>
              <a:t>Zooming</a:t>
            </a:r>
            <a:endParaRPr lang="en-US" dirty="0"/>
          </a:p>
          <a:p>
            <a:r>
              <a:rPr lang="en-US" dirty="0"/>
              <a:t>Helps increase dataset size and avoid overfitting.</a:t>
            </a:r>
            <a:endParaRPr lang="en-US" dirty="0"/>
          </a:p>
          <a:p>
            <a:endParaRPr lang="en-US" dirty="0"/>
          </a:p>
          <a:p>
            <a:pPr marL="0" indent="0" algn="ctr">
              <a:buNone/>
            </a:pPr>
            <a:r>
              <a:rPr lang="en-US" b="1" dirty="0"/>
              <a:t>🔹 Split the Dataset</a:t>
            </a:r>
            <a:endParaRPr lang="en-US" b="1" dirty="0"/>
          </a:p>
          <a:p>
            <a:pPr algn="just"/>
            <a:r>
              <a:rPr lang="en-US" b="1" dirty="0"/>
              <a:t>   Training Set</a:t>
            </a:r>
            <a:r>
              <a:rPr lang="en-US" dirty="0"/>
              <a:t> – used to teach the model</a:t>
            </a:r>
            <a:endParaRPr lang="en-US" dirty="0"/>
          </a:p>
          <a:p>
            <a:pPr algn="just"/>
            <a:r>
              <a:rPr lang="en-US" b="1" dirty="0"/>
              <a:t>Validation Set</a:t>
            </a:r>
            <a:r>
              <a:rPr lang="en-US" dirty="0"/>
              <a:t> – used during training to tune model</a:t>
            </a:r>
            <a:endParaRPr lang="en-US" dirty="0"/>
          </a:p>
          <a:p>
            <a:pPr algn="just"/>
            <a:r>
              <a:rPr lang="en-US" b="1" dirty="0"/>
              <a:t>Test Set</a:t>
            </a:r>
            <a:r>
              <a:rPr lang="en-US" dirty="0"/>
              <a:t> – used to check final accuracy</a:t>
            </a:r>
            <a:endParaRPr lang="en-US" dirty="0"/>
          </a:p>
          <a:p>
            <a:endParaRPr lang="en-IN" dirty="0"/>
          </a:p>
        </p:txBody>
      </p:sp>
      <p:sp>
        <p:nvSpPr>
          <p:cNvPr id="7" name="Arrow: Right 6"/>
          <p:cNvSpPr/>
          <p:nvPr/>
        </p:nvSpPr>
        <p:spPr>
          <a:xfrm>
            <a:off x="2367280" y="1575562"/>
            <a:ext cx="978408" cy="242316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Arrow: Right 7"/>
          <p:cNvSpPr/>
          <p:nvPr/>
        </p:nvSpPr>
        <p:spPr>
          <a:xfrm>
            <a:off x="2194560" y="3841242"/>
            <a:ext cx="978408" cy="242316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Arrow: Right 8"/>
          <p:cNvSpPr/>
          <p:nvPr/>
        </p:nvSpPr>
        <p:spPr>
          <a:xfrm>
            <a:off x="7262335" y="1690497"/>
            <a:ext cx="978408" cy="25476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Arrow: Right 9"/>
          <p:cNvSpPr/>
          <p:nvPr/>
        </p:nvSpPr>
        <p:spPr>
          <a:xfrm>
            <a:off x="7374095" y="3962400"/>
            <a:ext cx="978408" cy="25476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152401"/>
            <a:ext cx="7112000" cy="1259840"/>
          </a:xfrm>
        </p:spPr>
        <p:txBody>
          <a:bodyPr/>
          <a:lstStyle/>
          <a:p>
            <a:r>
              <a:rPr lang="en-IN" b="1" dirty="0"/>
              <a:t>CNN Architecture Overview</a:t>
            </a:r>
            <a:endParaRPr lang="en-IN" b="1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781016" y="1178560"/>
            <a:ext cx="4895056" cy="4500880"/>
          </a:xfrm>
        </p:spPr>
        <p:txBody>
          <a:bodyPr/>
          <a:lstStyle/>
          <a:p>
            <a:r>
              <a:rPr lang="en-IN" dirty="0"/>
              <a:t>Input Layer (224×224 image).</a:t>
            </a:r>
            <a:endParaRPr lang="en-IN" dirty="0"/>
          </a:p>
          <a:p>
            <a:r>
              <a:rPr lang="en-IN" dirty="0"/>
              <a:t>Convolutional Layers → feature extraction.</a:t>
            </a:r>
            <a:endParaRPr lang="en-IN" dirty="0"/>
          </a:p>
          <a:p>
            <a:r>
              <a:rPr lang="en-IN" dirty="0" err="1"/>
              <a:t>ReLU</a:t>
            </a:r>
            <a:r>
              <a:rPr lang="en-IN" dirty="0"/>
              <a:t> activation.</a:t>
            </a:r>
            <a:endParaRPr lang="en-IN" dirty="0"/>
          </a:p>
          <a:p>
            <a:r>
              <a:rPr lang="en-IN" dirty="0"/>
              <a:t>Max Pooling Layers → reduces spatial size.</a:t>
            </a:r>
            <a:endParaRPr lang="en-IN" dirty="0"/>
          </a:p>
          <a:p>
            <a:r>
              <a:rPr lang="en-IN" dirty="0"/>
              <a:t>Flatten Layer → converts to 1D.</a:t>
            </a:r>
            <a:endParaRPr lang="en-IN" dirty="0"/>
          </a:p>
          <a:p>
            <a:r>
              <a:rPr lang="en-IN" dirty="0"/>
              <a:t>Dense Layers → classification.</a:t>
            </a:r>
            <a:endParaRPr lang="en-IN" dirty="0"/>
          </a:p>
          <a:p>
            <a:r>
              <a:rPr lang="en-IN" dirty="0" err="1"/>
              <a:t>Softmax</a:t>
            </a:r>
            <a:r>
              <a:rPr lang="en-IN" dirty="0"/>
              <a:t> Output → multi-class prediction.</a:t>
            </a:r>
            <a:endParaRPr lang="en-IN" dirty="0"/>
          </a:p>
          <a:p>
            <a:endParaRPr lang="en-IN" dirty="0"/>
          </a:p>
        </p:txBody>
      </p:sp>
      <p:pic>
        <p:nvPicPr>
          <p:cNvPr id="4098" name="Picture 2"/>
          <p:cNvPicPr>
            <a:picLocks noGrp="1" noChangeAspect="1" noChangeArrowheads="1"/>
          </p:cNvPicPr>
          <p:nvPr>
            <p:ph sz="half" idx="1"/>
          </p:nvPr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82561" y="0"/>
            <a:ext cx="440944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0939" y="0"/>
            <a:ext cx="6360161" cy="1148081"/>
          </a:xfrm>
        </p:spPr>
        <p:txBody>
          <a:bodyPr>
            <a:normAutofit/>
          </a:bodyPr>
          <a:lstStyle/>
          <a:p>
            <a:r>
              <a:rPr lang="en-IN" b="1" dirty="0"/>
              <a:t>Advantages of Using CNN</a:t>
            </a:r>
            <a:endParaRPr lang="en-IN" b="1" dirty="0"/>
          </a:p>
        </p:txBody>
      </p:sp>
      <p:sp>
        <p:nvSpPr>
          <p:cNvPr id="5" name="Rectangle 1"/>
          <p:cNvSpPr>
            <a:spLocks noGrp="1" noChangeArrowheads="1"/>
          </p:cNvSpPr>
          <p:nvPr>
            <p:ph sz="half" idx="1"/>
          </p:nvPr>
        </p:nvSpPr>
        <p:spPr bwMode="auto">
          <a:xfrm>
            <a:off x="1484311" y="2413337"/>
            <a:ext cx="4176143" cy="2031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High accuracy in detection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Reduces human error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Faster analysis of large datasets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Can assist dentists in decision-making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5125" name="Picture 5"/>
          <p:cNvPicPr>
            <a:picLocks noGrp="1" noChangeAspect="1" noChangeArrowheads="1"/>
          </p:cNvPicPr>
          <p:nvPr>
            <p:ph sz="half" idx="2"/>
          </p:nvPr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31100" y="0"/>
            <a:ext cx="46609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Model    Flowchart</a:t>
            </a:r>
            <a:endParaRPr lang="en-IN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84310" y="2712719"/>
            <a:ext cx="10018713" cy="307848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Input                    Preprocessing                      CNN Model                             Training   </a:t>
            </a: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                                                                                                   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                                                  Output                   Prediction                           Evaluation </a:t>
            </a:r>
            <a:endParaRPr lang="en-US" dirty="0"/>
          </a:p>
        </p:txBody>
      </p:sp>
      <p:sp>
        <p:nvSpPr>
          <p:cNvPr id="6" name="Arrow: Right 5"/>
          <p:cNvSpPr/>
          <p:nvPr/>
        </p:nvSpPr>
        <p:spPr>
          <a:xfrm>
            <a:off x="2397760" y="3253740"/>
            <a:ext cx="978408" cy="35052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Arrow: Right 6"/>
          <p:cNvSpPr/>
          <p:nvPr/>
        </p:nvSpPr>
        <p:spPr>
          <a:xfrm>
            <a:off x="5495036" y="3352800"/>
            <a:ext cx="978408" cy="26924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Arrow: Right 7"/>
          <p:cNvSpPr/>
          <p:nvPr/>
        </p:nvSpPr>
        <p:spPr>
          <a:xfrm>
            <a:off x="8361680" y="3352800"/>
            <a:ext cx="978408" cy="26924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Arrow: Down 8"/>
          <p:cNvSpPr/>
          <p:nvPr/>
        </p:nvSpPr>
        <p:spPr>
          <a:xfrm>
            <a:off x="10223058" y="3739895"/>
            <a:ext cx="363662" cy="978408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Arrow: Left 9"/>
          <p:cNvSpPr/>
          <p:nvPr/>
        </p:nvSpPr>
        <p:spPr>
          <a:xfrm>
            <a:off x="8178800" y="4833620"/>
            <a:ext cx="978408" cy="269240"/>
          </a:xfrm>
          <a:prstGeom prst="lef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Arrow: Left 10"/>
          <p:cNvSpPr/>
          <p:nvPr/>
        </p:nvSpPr>
        <p:spPr>
          <a:xfrm>
            <a:off x="5606796" y="4876800"/>
            <a:ext cx="866648" cy="269240"/>
          </a:xfrm>
          <a:prstGeom prst="lef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2" y="172720"/>
            <a:ext cx="10565448" cy="1148080"/>
          </a:xfrm>
        </p:spPr>
        <p:txBody>
          <a:bodyPr>
            <a:normAutofit/>
          </a:bodyPr>
          <a:lstStyle/>
          <a:p>
            <a:r>
              <a:rPr lang="en-IN" b="1" dirty="0"/>
              <a:t>Model Implementation &amp; Training Parameters</a:t>
            </a:r>
            <a:endParaRPr lang="en-IN" dirty="0"/>
          </a:p>
        </p:txBody>
      </p:sp>
      <p:pic>
        <p:nvPicPr>
          <p:cNvPr id="6" name="Content Placeholder 5"/>
          <p:cNvPicPr>
            <a:picLocks noGrp="1" noChangeAspect="1"/>
          </p:cNvPicPr>
          <p:nvPr>
            <p:ph idx="1"/>
          </p:nvPr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57680" y="2947330"/>
            <a:ext cx="9347200" cy="3615395"/>
          </a:xfrm>
        </p:spPr>
      </p:pic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381760" y="1518920"/>
            <a:ext cx="10668000" cy="1828800"/>
          </a:xfrm>
        </p:spPr>
        <p:txBody>
          <a:bodyPr/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800" b="1" dirty="0"/>
              <a:t>1. Stage 1: U-Net for Semantic Segmentation</a:t>
            </a:r>
            <a:endParaRPr lang="en-US" sz="1800" b="1" dirty="0"/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IN" sz="1800" b="1" dirty="0"/>
              <a:t>(U-Net):</a:t>
            </a:r>
            <a:r>
              <a:rPr lang="en-IN" sz="1800" dirty="0"/>
              <a:t> Focusing on </a:t>
            </a:r>
            <a:r>
              <a:rPr lang="en-IN" sz="1800" b="1" dirty="0"/>
              <a:t>precision</a:t>
            </a:r>
            <a:r>
              <a:rPr lang="en-IN" sz="1800" dirty="0"/>
              <a:t> for clinical/diagnostic monitoring.</a:t>
            </a:r>
            <a:endParaRPr lang="en-IN" sz="1800" dirty="0"/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800" dirty="0"/>
              <a:t>The U-Net model is configured for </a:t>
            </a:r>
            <a:r>
              <a:rPr lang="en-US" sz="1800" b="1" dirty="0"/>
              <a:t>Semantic Segmentation</a:t>
            </a:r>
            <a:r>
              <a:rPr lang="en-US" sz="1800" dirty="0"/>
              <a:t>, focusing on pixel-level accuracy.</a:t>
            </a:r>
            <a:endParaRPr lang="en-US" sz="1800" dirty="0"/>
          </a:p>
          <a:p>
            <a:pPr marL="285750" indent="-285750" algn="l">
              <a:buFont typeface="Arial" panose="020B0604020202020204" pitchFamily="34" charset="0"/>
              <a:buChar char="•"/>
            </a:pPr>
            <a:endParaRPr lang="en-US" sz="1800" b="1" dirty="0"/>
          </a:p>
          <a:p>
            <a:endParaRPr lang="en-IN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Placeholder 5"/>
          <p:cNvPicPr>
            <a:picLocks noGrp="1" noChangeAspect="1"/>
          </p:cNvPicPr>
          <p:nvPr>
            <p:ph type="pic" idx="1"/>
          </p:nvPr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5" r="7356"/>
          <a:stretch>
            <a:fillRect/>
          </a:stretch>
        </p:blipFill>
        <p:spPr>
          <a:xfrm>
            <a:off x="1270000" y="2773363"/>
            <a:ext cx="9387839" cy="3231197"/>
          </a:xfrm>
        </p:spPr>
      </p:pic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2724" y="182881"/>
            <a:ext cx="10516236" cy="2479039"/>
          </a:xfrm>
        </p:spPr>
        <p:txBody>
          <a:bodyPr>
            <a:normAutofit/>
          </a:bodyPr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b="1" dirty="0"/>
              <a:t>Theme 2 (YOLOv8):</a:t>
            </a:r>
            <a:r>
              <a:rPr lang="en-US" dirty="0"/>
              <a:t> Focusing on </a:t>
            </a:r>
            <a:r>
              <a:rPr lang="en-US" b="1" dirty="0"/>
              <a:t>speed</a:t>
            </a:r>
            <a:r>
              <a:rPr lang="en-US" dirty="0"/>
              <a:t> for mass screening/triage.</a:t>
            </a:r>
            <a:endParaRPr lang="en-US" b="1" dirty="0"/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dirty="0"/>
              <a:t>YOLOv8 is an extremely fast, state-of-the-art CNN for </a:t>
            </a:r>
            <a:r>
              <a:rPr lang="en-US" b="1" dirty="0"/>
              <a:t>Object Detection</a:t>
            </a:r>
            <a:r>
              <a:rPr lang="en-US" dirty="0"/>
              <a:t>, quickly drawing a simple bounding box around the lesion.</a:t>
            </a:r>
            <a:endParaRPr lang="en-US" dirty="0"/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dirty="0"/>
              <a:t> Its primary role in your hybrid system is to rapidly find the Region of Interest (ROI), prioritizing speed before the final U-Net refinement.</a:t>
            </a:r>
            <a:endParaRPr lang="en-US" dirty="0"/>
          </a:p>
          <a:p>
            <a:endParaRPr lang="en-IN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9562" y="309880"/>
            <a:ext cx="10018713" cy="736600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U-Net and YOLO in Collaboration</a:t>
            </a:r>
            <a:br>
              <a:rPr lang="en-US" b="1" dirty="0"/>
            </a:b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8232" y="1866899"/>
            <a:ext cx="4895055" cy="3124201"/>
          </a:xfrm>
        </p:spPr>
        <p:txBody>
          <a:bodyPr/>
          <a:lstStyle/>
          <a:p>
            <a:r>
              <a:rPr lang="en-US" dirty="0"/>
              <a:t>YOLO is the fast "Speed CNN" for initial bounding box localization, and U-Net is the highly precise "Precision CNN" for pixel-level segmentation. This hybrid process uses the fast CNN's output to focus the precise CNN, ensuring an optimized blend of speed and diagnostic accuracy.</a:t>
            </a:r>
            <a:endParaRPr lang="en-IN" dirty="0"/>
          </a:p>
        </p:txBody>
      </p:sp>
      <p:pic>
        <p:nvPicPr>
          <p:cNvPr id="10" name="Content Placeholder 9"/>
          <p:cNvPicPr>
            <a:picLocks noGrp="1" noChangeAspect="1"/>
          </p:cNvPicPr>
          <p:nvPr>
            <p:ph sz="half" idx="2"/>
          </p:nvPr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607174" y="822960"/>
            <a:ext cx="5584825" cy="60350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685801"/>
            <a:ext cx="10018713" cy="1325880"/>
          </a:xfrm>
        </p:spPr>
        <p:txBody>
          <a:bodyPr/>
          <a:lstStyle/>
          <a:p>
            <a:r>
              <a:rPr lang="en-IN" b="1" dirty="0"/>
              <a:t>Conclusion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84310" y="1818641"/>
            <a:ext cx="10018713" cy="3972560"/>
          </a:xfrm>
        </p:spPr>
        <p:txBody>
          <a:bodyPr>
            <a:normAutofit/>
          </a:bodyPr>
          <a:lstStyle/>
          <a:p>
            <a:r>
              <a:rPr lang="en-IN" dirty="0"/>
              <a:t>CNNs significantly improve dental disease detection.</a:t>
            </a:r>
            <a:endParaRPr lang="en-IN" dirty="0"/>
          </a:p>
          <a:p>
            <a:r>
              <a:rPr lang="en-IN" dirty="0"/>
              <a:t>Effective in identifying abnormalities from radiographic images.</a:t>
            </a:r>
            <a:endParaRPr lang="en-IN" dirty="0"/>
          </a:p>
          <a:p>
            <a:r>
              <a:rPr lang="en-IN" dirty="0"/>
              <a:t>Future work:</a:t>
            </a:r>
            <a:endParaRPr lang="en-IN" dirty="0"/>
          </a:p>
          <a:p>
            <a:pPr lvl="1"/>
            <a:r>
              <a:rPr lang="en-IN" dirty="0"/>
              <a:t>Improve dataset size</a:t>
            </a:r>
            <a:endParaRPr lang="en-IN" dirty="0"/>
          </a:p>
          <a:p>
            <a:pPr lvl="1"/>
            <a:r>
              <a:rPr lang="en-IN" dirty="0"/>
              <a:t>Use transfer learning (e.g., VGG16, </a:t>
            </a:r>
            <a:r>
              <a:rPr lang="en-IN" dirty="0" err="1"/>
              <a:t>ResNet</a:t>
            </a:r>
            <a:r>
              <a:rPr lang="en-IN" dirty="0"/>
              <a:t>)</a:t>
            </a:r>
            <a:endParaRPr lang="en-IN" dirty="0"/>
          </a:p>
          <a:p>
            <a:pPr lvl="1"/>
            <a:r>
              <a:rPr lang="en-IN" dirty="0"/>
              <a:t>Deploy as a clinical decision-support tool</a:t>
            </a:r>
            <a:endParaRPr lang="en-IN" dirty="0"/>
          </a:p>
          <a:p>
            <a:endParaRPr lang="en-IN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icture Placeholder 14"/>
          <p:cNvSpPr>
            <a:spLocks noGrp="1"/>
          </p:cNvSpPr>
          <p:nvPr>
            <p:ph type="pic" idx="1"/>
          </p:nvPr>
        </p:nvSpPr>
        <p:spPr/>
      </p:sp>
      <p:pic>
        <p:nvPicPr>
          <p:cNvPr id="2" name="Picture 1"/>
          <p:cNvPicPr/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365" cy="6960870"/>
          </a:xfrm>
          <a:prstGeom prst="rect">
            <a:avLst/>
          </a:prstGeom>
        </p:spPr>
      </p:pic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Parallax">
  <a:themeElements>
    <a:clrScheme name="Parallax">
      <a:dk1>
        <a:sysClr val="windowText" lastClr="000000"/>
      </a:dk1>
      <a:lt1>
        <a:sysClr val="window" lastClr="FFFFFF"/>
      </a:lt1>
      <a:dk2>
        <a:srgbClr val="212121"/>
      </a:dk2>
      <a:lt2>
        <a:srgbClr val="CDD0D1"/>
      </a:lt2>
      <a:accent1>
        <a:srgbClr val="30ACEC"/>
      </a:accent1>
      <a:accent2>
        <a:srgbClr val="80C34F"/>
      </a:accent2>
      <a:accent3>
        <a:srgbClr val="E29D3E"/>
      </a:accent3>
      <a:accent4>
        <a:srgbClr val="D64A3B"/>
      </a:accent4>
      <a:accent5>
        <a:srgbClr val="D64787"/>
      </a:accent5>
      <a:accent6>
        <a:srgbClr val="A666E1"/>
      </a:accent6>
      <a:hlink>
        <a:srgbClr val="3085ED"/>
      </a:hlink>
      <a:folHlink>
        <a:srgbClr val="82B6F4"/>
      </a:folHlink>
    </a:clrScheme>
    <a:fontScheme name="Parallax">
      <a:majorFont>
        <a:latin typeface="Corbel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orbel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arallax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04000"/>
              </a:schemeClr>
            </a:gs>
            <a:gs pos="100000">
              <a:schemeClr val="phClr">
                <a:tint val="8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2000"/>
              </a:schemeClr>
            </a:gs>
            <a:gs pos="100000">
              <a:schemeClr val="phClr">
                <a:shade val="88000"/>
                <a:lumMod val="94000"/>
              </a:schemeClr>
            </a:gs>
          </a:gsLst>
          <a:path path="circle">
            <a:fillToRect l="50000" t="100000" r="100000" b="50000"/>
          </a:path>
        </a:gradFill>
      </a:fillStyleLst>
      <a:lnStyleLst>
        <a:ln w="9525" cap="rnd" cmpd="sng" algn="ctr">
          <a:solidFill>
            <a:schemeClr val="phClr">
              <a:tint val="6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reflection blurRad="12700" stA="26000" endPos="32000" dist="12700" dir="5400000" sy="-100000" rotWithShape="0"/>
          </a:effectLst>
        </a:effectStyle>
        <a:effectStyle>
          <a:effectLst>
            <a:outerShdw blurRad="38100" dist="25400" dir="5400000" rotWithShape="0">
              <a:srgbClr val="000000">
                <a:alpha val="64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254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98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76000"/>
                <a:satMod val="180000"/>
              </a:schemeClr>
              <a:schemeClr val="phClr">
                <a:tint val="80000"/>
                <a:satMod val="120000"/>
                <a:lumMod val="180000"/>
              </a:schemeClr>
            </a:duotone>
          </a:blip>
          <a:stretch>
            <a:fillRect/>
          </a:stretch>
        </a:blip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TM03457496[[fn=Parallax]]</Template>
  <TotalTime>0</TotalTime>
  <Words>3612</Words>
  <Application>WPS Presentation</Application>
  <PresentationFormat>Widescreen</PresentationFormat>
  <Paragraphs>112</Paragraphs>
  <Slides>14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14</vt:i4>
      </vt:variant>
    </vt:vector>
  </HeadingPairs>
  <TitlesOfParts>
    <vt:vector size="24" baseType="lpstr">
      <vt:lpstr>Arial</vt:lpstr>
      <vt:lpstr>SimSun</vt:lpstr>
      <vt:lpstr>Wingdings</vt:lpstr>
      <vt:lpstr>Arial</vt:lpstr>
      <vt:lpstr>Bahnschrift Light</vt:lpstr>
      <vt:lpstr>Corbel</vt:lpstr>
      <vt:lpstr>Microsoft YaHei</vt:lpstr>
      <vt:lpstr>Arial Unicode MS</vt:lpstr>
      <vt:lpstr>Calibri</vt:lpstr>
      <vt:lpstr>Parallax</vt:lpstr>
      <vt:lpstr>Detection of Dental Diseases Using Convolutional Neural Networks (CNN)</vt:lpstr>
      <vt:lpstr>Introduction</vt:lpstr>
      <vt:lpstr>Problem Statement</vt:lpstr>
      <vt:lpstr>PowerPoint 演示文稿</vt:lpstr>
      <vt:lpstr>Dataset Description</vt:lpstr>
      <vt:lpstr>Data Preprocessing</vt:lpstr>
      <vt:lpstr>CNN Architecture Overview</vt:lpstr>
      <vt:lpstr>Advantages of Using CNN</vt:lpstr>
      <vt:lpstr>Model    Flowchart</vt:lpstr>
      <vt:lpstr>Model Implementation &amp; Training Parameters</vt:lpstr>
      <vt:lpstr>PowerPoint 演示文稿</vt:lpstr>
      <vt:lpstr>U-Net and YOLO in Collaboration </vt:lpstr>
      <vt:lpstr>Conclusion 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Kummari Pavan</dc:creator>
  <cp:lastModifiedBy>Pavan Kummari</cp:lastModifiedBy>
  <cp:revision>5</cp:revision>
  <dcterms:created xsi:type="dcterms:W3CDTF">2025-11-25T02:14:00Z</dcterms:created>
  <dcterms:modified xsi:type="dcterms:W3CDTF">2025-11-26T19:52:30Z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149A920C1F2049B09C976C20B8ECC81D_12</vt:lpwstr>
  </property>
  <property fmtid="{D5CDD505-2E9C-101B-9397-08002B2CF9AE}" pid="3" name="KSOProductBuildVer">
    <vt:lpwstr>1033-12.2.0.23155</vt:lpwstr>
  </property>
</Properties>
</file>